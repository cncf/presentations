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2.png" ContentType="image/png"/>
  <Override PartName="/ppt/media/image3.png" ContentType="image/png"/>
  <Override PartName="/ppt/media/image8.jpeg" ContentType="image/jpeg"/>
  <Override PartName="/ppt/media/image11.png" ContentType="image/png"/>
  <Override PartName="/ppt/media/image2.png" ContentType="image/png"/>
  <Override PartName="/ppt/media/image19.jpeg" ContentType="image/jpeg"/>
  <Override PartName="/ppt/media/image1.jpeg" ContentType="image/jpeg"/>
  <Override PartName="/ppt/media/image17.png" ContentType="image/png"/>
  <Override PartName="/ppt/media/image4.jpeg" ContentType="image/jpeg"/>
  <Override PartName="/ppt/media/image16.png" ContentType="image/png"/>
  <Override PartName="/ppt/media/image15.png" ContentType="image/png"/>
  <Override PartName="/ppt/media/image5.jpeg" ContentType="image/jpeg"/>
  <Override PartName="/ppt/media/image14.png" ContentType="image/png"/>
  <Override PartName="/ppt/media/image10.png" ContentType="image/png"/>
  <Override PartName="/ppt/media/image6.jpeg" ContentType="image/jpeg"/>
  <Override PartName="/ppt/media/image13.png" ContentType="image/png"/>
  <Override PartName="/ppt/media/image7.jpeg" ContentType="image/jpeg"/>
  <Override PartName="/ppt/media/image9.png" ContentType="image/png"/>
  <Override PartName="/ppt/media/image18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等线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0FF7596-D5AA-46B1-978C-67B104587F0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5BDAF7-B051-44C1-B010-1AC8AC54712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983381-593D-458B-BBFE-D07764EF51D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919F96-7683-4F4F-BF51-B54783E2E49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F5EC6D-F226-431C-A184-9307CE18564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036BDC-9ECC-40D2-9933-8C26961BF27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4B098E-B1ED-4468-BB4C-E2153012944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5243EB-321B-44A7-AFE9-CEB4CD460B5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8ADEF4-7C0A-43BC-AE1A-5CEF29702DD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1E2360-1599-4520-8245-A66E96BB110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D063C97-FAB2-4577-BD9F-3FF6B528291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9BC28A-8A37-4E21-9452-DFC061C961C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AC7CEA-27CE-4D15-91E5-5CF2A2F4F10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89BBBF-0BEB-4E90-AE5E-9ECEB6BCB53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9CD99A-DEC1-4594-8EF7-EB2872E60F4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27B2FC-DBC2-4D70-9A2B-188645522DA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EB90D2-1FFA-4628-92B5-4D2BA4A012E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15EA7A-EC77-49FA-B1B8-76A6BC396F4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B44AD6-AFDD-4EB1-8529-39CD7C068D6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E78E79-2F63-4F8B-9666-3D575780B1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AE3E82-E18D-447D-9641-552D5BFED1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70410CD-2593-4FC1-B27C-92D33550B3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00814E5-6A3E-490A-8654-ADB06A960F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D0A1F17-C968-4BAB-9E5A-D28CE2A0D1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EDB965A-305D-4F2E-BCF4-CF1CF18D16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C5C5EC5-74B9-4A5A-AF63-345DECA49C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480B4F9-D4F1-4EAC-BAF3-A5842B1234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7F517A0-5FA5-476A-96B5-75EF8F9BAF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24FE9CC-4282-474B-B384-6A1FB1CE70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8F0F9EE-2DDB-4D7A-B0EF-1D83968239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图片 11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" name="图片 1" descr=""/>
          <p:cNvPicPr/>
          <p:nvPr/>
        </p:nvPicPr>
        <p:blipFill>
          <a:blip r:embed="rId3"/>
          <a:stretch/>
        </p:blipFill>
        <p:spPr>
          <a:xfrm>
            <a:off x="369720" y="276120"/>
            <a:ext cx="684720" cy="573840"/>
          </a:xfrm>
          <a:prstGeom prst="rect">
            <a:avLst/>
          </a:prstGeom>
          <a:ln w="0">
            <a:noFill/>
          </a:ln>
        </p:spPr>
      </p:pic>
      <p:pic>
        <p:nvPicPr>
          <p:cNvPr id="2" name="图片 2" descr=""/>
          <p:cNvPicPr/>
          <p:nvPr/>
        </p:nvPicPr>
        <p:blipFill>
          <a:blip r:embed="rId4"/>
          <a:stretch/>
        </p:blipFill>
        <p:spPr>
          <a:xfrm>
            <a:off x="1230480" y="463680"/>
            <a:ext cx="1505880" cy="4492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等线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等线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等线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等线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等线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等线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等线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等线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等线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等线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等线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等线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等线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等线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等线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16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15AA58-1B53-4051-8139-DE6A8AEE87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</a:t>
            </a: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标题样式</a:t>
            </a:r>
            <a:endParaRPr b="0" lang="en-US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CD254-11B8-4680-8FE5-3249908E50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en-US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470AD2-2CC4-42F8-B588-7A0F84EC01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en-US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ACA5DD-5752-48FD-982E-F7F172D185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" name="图片 7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en-US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4B2641-6A19-421E-8A9C-58E0E0EEAE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" name="图片 7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5" name="图片 8" descr=""/>
          <p:cNvPicPr/>
          <p:nvPr/>
        </p:nvPicPr>
        <p:blipFill>
          <a:blip r:embed="rId3"/>
          <a:stretch/>
        </p:blipFill>
        <p:spPr>
          <a:xfrm>
            <a:off x="369720" y="276120"/>
            <a:ext cx="684720" cy="573840"/>
          </a:xfrm>
          <a:prstGeom prst="rect">
            <a:avLst/>
          </a:prstGeom>
          <a:ln w="0">
            <a:noFill/>
          </a:ln>
        </p:spPr>
      </p:pic>
      <p:pic>
        <p:nvPicPr>
          <p:cNvPr id="36" name="图片 9" descr=""/>
          <p:cNvPicPr/>
          <p:nvPr/>
        </p:nvPicPr>
        <p:blipFill>
          <a:blip r:embed="rId4"/>
          <a:stretch/>
        </p:blipFill>
        <p:spPr>
          <a:xfrm>
            <a:off x="1230480" y="463680"/>
            <a:ext cx="1505880" cy="449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en-US" sz="60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单击此处编辑母版文本样式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60EB7D-0E45-4A5E-92D1-392CBE4E99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en-US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30E3E9-2993-4E1F-A19D-A683718F01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en-US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en-US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2DAC38-2E12-4164-A736-86DF296EFA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en-US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520642-95B0-4C45-9B46-1A122357B8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B55068-D286-4807-A059-A3C1DFC0B5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32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en-US" sz="28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en-US" sz="24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en-US" sz="20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en-US" sz="16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BA9F07-2648-413E-B3DD-D414D873B2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文本框 5"/>
          <p:cNvSpPr/>
          <p:nvPr/>
        </p:nvSpPr>
        <p:spPr>
          <a:xfrm>
            <a:off x="328680" y="1448640"/>
            <a:ext cx="75794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zh-CN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从 </a:t>
            </a:r>
            <a:r>
              <a:rPr b="1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Pods </a:t>
            </a:r>
            <a:r>
              <a:rPr b="1" lang="zh-CN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到 </a:t>
            </a:r>
            <a:r>
              <a:rPr b="1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Prompts</a:t>
            </a:r>
            <a:r>
              <a:rPr b="1" lang="zh-CN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：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Kubernetes </a:t>
            </a:r>
            <a:r>
              <a:rPr b="0" lang="zh-CN" sz="28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网络演进与 </a:t>
            </a:r>
            <a:r>
              <a:rPr b="0" lang="en-US" sz="28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AI </a:t>
            </a:r>
            <a:r>
              <a:rPr b="0" lang="zh-CN" sz="28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新时代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部门描述或职位描述"/>
          <p:cNvSpPr/>
          <p:nvPr/>
        </p:nvSpPr>
        <p:spPr>
          <a:xfrm>
            <a:off x="618480" y="4428360"/>
            <a:ext cx="1388520" cy="405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defTabSz="2438280">
              <a:lnSpc>
                <a:spcPct val="100000"/>
              </a:lnSpc>
            </a:pPr>
            <a:r>
              <a:rPr b="0" lang="en-US" sz="2000" spc="157" strike="noStrike">
                <a:solidFill>
                  <a:schemeClr val="dk1"/>
                </a:solidFill>
                <a:latin typeface="Alibaba PuHuiTi 2.0 55 Regular"/>
                <a:ea typeface="Alibaba PuHuiTi 2.0 55 Regular"/>
              </a:rPr>
              <a:t>Kong Inc.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2024/00/00"/>
          <p:cNvSpPr/>
          <p:nvPr/>
        </p:nvSpPr>
        <p:spPr>
          <a:xfrm>
            <a:off x="473040" y="4832280"/>
            <a:ext cx="1793160" cy="405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defTabSz="2438280">
              <a:lnSpc>
                <a:spcPct val="100000"/>
              </a:lnSpc>
            </a:pPr>
            <a:r>
              <a:rPr b="0" lang="en-US" sz="2000" spc="296" strike="noStrike">
                <a:solidFill>
                  <a:schemeClr val="dk1"/>
                </a:solidFill>
                <a:latin typeface="Alibaba PuHuiTi 2.0 55 Regular"/>
                <a:ea typeface="Alibaba PuHuiTi 2.0 55 Regular"/>
              </a:rPr>
              <a:t>202</a:t>
            </a:r>
            <a:r>
              <a:rPr b="0" lang="en-US" sz="2000" spc="296" strike="noStrike">
                <a:solidFill>
                  <a:schemeClr val="dk1"/>
                </a:solidFill>
                <a:latin typeface="Alibaba PuHuiTi 2.0 55 Regular"/>
                <a:ea typeface="Alibaba PuHuiTi 2.0 55 Regular"/>
              </a:rPr>
              <a:t>5/11/15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演讲人"/>
          <p:cNvSpPr/>
          <p:nvPr/>
        </p:nvSpPr>
        <p:spPr>
          <a:xfrm>
            <a:off x="589320" y="3639240"/>
            <a:ext cx="1474200" cy="649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defTabSz="2438280">
              <a:lnSpc>
                <a:spcPct val="100000"/>
              </a:lnSpc>
            </a:pPr>
            <a:r>
              <a:rPr b="1" lang="zh-CN" sz="3600" spc="-1" strike="noStrike">
                <a:solidFill>
                  <a:srgbClr val="0055ff"/>
                </a:solidFill>
                <a:latin typeface="Alibaba PuHuiTi 2.0 55 Regular"/>
                <a:ea typeface="Alibaba PuHuiTi 2.0 55 Regular"/>
              </a:rPr>
              <a:t>张晋涛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文本框 3"/>
          <p:cNvSpPr/>
          <p:nvPr/>
        </p:nvSpPr>
        <p:spPr>
          <a:xfrm>
            <a:off x="4725360" y="2236680"/>
            <a:ext cx="57294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zh-CN" sz="3600" spc="-1" strike="noStrike">
                <a:solidFill>
                  <a:schemeClr val="dk1"/>
                </a:solidFill>
                <a:latin typeface="Alibaba PuHuiTi 3.0 55 Regular"/>
                <a:ea typeface="Alibaba PuHuiTi 3.0 55 Regular"/>
              </a:rPr>
              <a:t>张晋涛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Kong Inc.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文本框 4"/>
          <p:cNvSpPr/>
          <p:nvPr/>
        </p:nvSpPr>
        <p:spPr>
          <a:xfrm>
            <a:off x="4725360" y="3930480"/>
            <a:ext cx="647604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Kubernetes Ingress-NGINX maintainer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Microsoft MVP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CNCF Ambassador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LFAPAC Open Source Evangelist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公众号：</a:t>
            </a:r>
            <a:r>
              <a:rPr b="0" lang="en-US" sz="20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MoeLove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矩形 5"/>
          <p:cNvSpPr/>
          <p:nvPr/>
        </p:nvSpPr>
        <p:spPr>
          <a:xfrm>
            <a:off x="1454760" y="1828800"/>
            <a:ext cx="2473560" cy="3466440"/>
          </a:xfrm>
          <a:prstGeom prst="rect">
            <a:avLst/>
          </a:prstGeom>
          <a:solidFill>
            <a:schemeClr val="bg1"/>
          </a:solidFill>
          <a:ln>
            <a:solidFill>
              <a:srgbClr val="5b9bd5">
                <a:lumMod val="20000"/>
                <a:lumOff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806760" y="1828800"/>
            <a:ext cx="3345840" cy="34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圆角矩形"/>
          <p:cNvSpPr/>
          <p:nvPr/>
        </p:nvSpPr>
        <p:spPr>
          <a:xfrm>
            <a:off x="1180440" y="1709640"/>
            <a:ext cx="9974880" cy="3855960"/>
          </a:xfrm>
          <a:prstGeom prst="roundRect">
            <a:avLst>
              <a:gd name="adj" fmla="val 2206"/>
            </a:avLst>
          </a:prstGeom>
          <a:gradFill rotWithShape="0">
            <a:gsLst>
              <a:gs pos="0">
                <a:srgbClr val="ffffff"/>
              </a:gs>
              <a:gs pos="100000">
                <a:srgbClr val="ffffff">
                  <a:alpha val="40000"/>
                </a:srgbClr>
              </a:gs>
            </a:gsLst>
            <a:lin ang="0"/>
          </a:gradFill>
          <a:ln w="12700">
            <a:solidFill>
              <a:srgbClr val="d5d5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82548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等线"/>
            </a:endParaRPr>
          </a:p>
        </p:txBody>
      </p:sp>
      <p:sp>
        <p:nvSpPr>
          <p:cNvPr id="90" name="CONTENT"/>
          <p:cNvSpPr/>
          <p:nvPr/>
        </p:nvSpPr>
        <p:spPr>
          <a:xfrm>
            <a:off x="2129040" y="2409120"/>
            <a:ext cx="1789920" cy="527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Alibaba PuHuiTi 3.0 55 Regular"/>
                <a:ea typeface="Alibaba PuHuiTi 3.0 55 Regular"/>
              </a:rPr>
              <a:t>CONTENT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目录"/>
          <p:cNvSpPr/>
          <p:nvPr/>
        </p:nvSpPr>
        <p:spPr>
          <a:xfrm>
            <a:off x="2160000" y="2806560"/>
            <a:ext cx="811440" cy="527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defTabSz="825480">
              <a:lnSpc>
                <a:spcPct val="100000"/>
              </a:lnSpc>
            </a:pPr>
            <a:r>
              <a:rPr b="0" lang="zh-CN" sz="28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目录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01"/>
          <p:cNvSpPr/>
          <p:nvPr/>
        </p:nvSpPr>
        <p:spPr>
          <a:xfrm>
            <a:off x="4506120" y="2433600"/>
            <a:ext cx="484560" cy="466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Alibaba PuHuiTi 3.0 55 Regular"/>
                <a:ea typeface="Alibaba PuHuiTi 3.0 55 Regular"/>
              </a:rPr>
              <a:t>01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线条"/>
          <p:cNvSpPr/>
          <p:nvPr/>
        </p:nvSpPr>
        <p:spPr>
          <a:xfrm>
            <a:off x="4562280" y="2927520"/>
            <a:ext cx="5223600" cy="360"/>
          </a:xfrm>
          <a:prstGeom prst="line">
            <a:avLst/>
          </a:prstGeom>
          <a:ln w="12700">
            <a:solidFill>
              <a:srgbClr val="d5d5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t">
            <a:noAutofit/>
          </a:bodyPr>
          <a:p>
            <a:endParaRPr b="0" lang="en-US" sz="1050" spc="-1" strike="noStrike">
              <a:solidFill>
                <a:schemeClr val="dk1"/>
              </a:solidFill>
              <a:latin typeface="Alibaba PuHuiTi 3.0 55 Regular"/>
              <a:ea typeface="Alibaba PuHuiTi 3.0 55 Regular"/>
            </a:endParaRPr>
          </a:p>
        </p:txBody>
      </p:sp>
      <p:sp>
        <p:nvSpPr>
          <p:cNvPr id="94" name="章节大标题"/>
          <p:cNvSpPr/>
          <p:nvPr/>
        </p:nvSpPr>
        <p:spPr>
          <a:xfrm>
            <a:off x="5054040" y="2367720"/>
            <a:ext cx="4681440" cy="5410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Kubernetes</a:t>
            </a:r>
            <a:r>
              <a:rPr b="0" lang="zh-CN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的网络模型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01"/>
          <p:cNvSpPr/>
          <p:nvPr/>
        </p:nvSpPr>
        <p:spPr>
          <a:xfrm>
            <a:off x="4506120" y="3127320"/>
            <a:ext cx="484560" cy="466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Alibaba PuHuiTi 3.0 55 Regular"/>
                <a:ea typeface="Alibaba PuHuiTi 3.0 55 Regular"/>
              </a:rPr>
              <a:t>02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线条"/>
          <p:cNvSpPr/>
          <p:nvPr/>
        </p:nvSpPr>
        <p:spPr>
          <a:xfrm>
            <a:off x="4562280" y="3621240"/>
            <a:ext cx="5223600" cy="360"/>
          </a:xfrm>
          <a:prstGeom prst="line">
            <a:avLst/>
          </a:prstGeom>
          <a:ln w="12700">
            <a:solidFill>
              <a:srgbClr val="d5d5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t">
            <a:noAutofit/>
          </a:bodyPr>
          <a:p>
            <a:endParaRPr b="0" lang="en-US" sz="105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97" name="章节大标题"/>
          <p:cNvSpPr/>
          <p:nvPr/>
        </p:nvSpPr>
        <p:spPr>
          <a:xfrm>
            <a:off x="5054040" y="3062160"/>
            <a:ext cx="4681440" cy="539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zh-CN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从</a:t>
            </a:r>
            <a:r>
              <a:rPr b="0" lang="en-US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Ingress</a:t>
            </a:r>
            <a:r>
              <a:rPr b="0" lang="zh-CN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到</a:t>
            </a:r>
            <a:r>
              <a:rPr b="0" lang="en-US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Gateway API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01"/>
          <p:cNvSpPr/>
          <p:nvPr/>
        </p:nvSpPr>
        <p:spPr>
          <a:xfrm>
            <a:off x="4506120" y="3757320"/>
            <a:ext cx="484560" cy="466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Alibaba PuHuiTi 3.0 55 Regular"/>
                <a:ea typeface="Alibaba PuHuiTi 3.0 55 Regular"/>
              </a:rPr>
              <a:t>03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线条"/>
          <p:cNvSpPr/>
          <p:nvPr/>
        </p:nvSpPr>
        <p:spPr>
          <a:xfrm>
            <a:off x="4562280" y="4251240"/>
            <a:ext cx="5223600" cy="360"/>
          </a:xfrm>
          <a:prstGeom prst="line">
            <a:avLst/>
          </a:prstGeom>
          <a:ln w="12700">
            <a:solidFill>
              <a:srgbClr val="d5d5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t">
            <a:noAutofit/>
          </a:bodyPr>
          <a:p>
            <a:endParaRPr b="0" lang="en-US" sz="105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00" name="章节大标题"/>
          <p:cNvSpPr/>
          <p:nvPr/>
        </p:nvSpPr>
        <p:spPr>
          <a:xfrm>
            <a:off x="5054040" y="3692520"/>
            <a:ext cx="4681440" cy="539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AI </a:t>
            </a:r>
            <a:r>
              <a:rPr b="0" lang="zh-CN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时代与</a:t>
            </a:r>
            <a:r>
              <a:rPr b="0" lang="en-US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Kong AI Gateway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01"/>
          <p:cNvSpPr/>
          <p:nvPr/>
        </p:nvSpPr>
        <p:spPr>
          <a:xfrm>
            <a:off x="4506120" y="4451040"/>
            <a:ext cx="484560" cy="466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Alibaba PuHuiTi 3.0 55 Regular"/>
                <a:ea typeface="Alibaba PuHuiTi 3.0 55 Regular"/>
              </a:rPr>
              <a:t>04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线条"/>
          <p:cNvSpPr/>
          <p:nvPr/>
        </p:nvSpPr>
        <p:spPr>
          <a:xfrm>
            <a:off x="4562280" y="4944960"/>
            <a:ext cx="5223600" cy="360"/>
          </a:xfrm>
          <a:prstGeom prst="line">
            <a:avLst/>
          </a:prstGeom>
          <a:ln w="12700">
            <a:solidFill>
              <a:srgbClr val="d5d5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t">
            <a:noAutofit/>
          </a:bodyPr>
          <a:p>
            <a:endParaRPr b="0" lang="en-US" sz="105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03" name="章节大标题"/>
          <p:cNvSpPr/>
          <p:nvPr/>
        </p:nvSpPr>
        <p:spPr>
          <a:xfrm>
            <a:off x="5054040" y="4385880"/>
            <a:ext cx="4681440" cy="539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55ff"/>
                </a:solidFill>
                <a:latin typeface="Alibaba PuHuiTi 3.0 55 Regular"/>
                <a:ea typeface="Alibaba PuHuiTi 3.0 55 Regular"/>
              </a:rPr>
              <a:t>AI + Cloud Native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文本框 7"/>
          <p:cNvSpPr/>
          <p:nvPr/>
        </p:nvSpPr>
        <p:spPr>
          <a:xfrm>
            <a:off x="3886200" y="2971800"/>
            <a:ext cx="4973040" cy="649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defTabSz="825480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Kubernetes</a:t>
            </a:r>
            <a:r>
              <a:rPr b="0" lang="zh-CN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的网络模型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708200" y="1121040"/>
            <a:ext cx="8714880" cy="536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文本框 1"/>
          <p:cNvSpPr/>
          <p:nvPr/>
        </p:nvSpPr>
        <p:spPr>
          <a:xfrm>
            <a:off x="3453120" y="2971800"/>
            <a:ext cx="5838480" cy="649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defTabSz="825480">
              <a:lnSpc>
                <a:spcPct val="100000"/>
              </a:lnSpc>
            </a:pPr>
            <a:r>
              <a:rPr b="0" lang="zh-CN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从 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Ingress</a:t>
            </a:r>
            <a:r>
              <a:rPr b="0" lang="zh-CN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到 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Gateway API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1585440" y="914400"/>
            <a:ext cx="8966160" cy="585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2695680" y="1281600"/>
            <a:ext cx="7335360" cy="522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1227600" y="842400"/>
            <a:ext cx="9703080" cy="602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457200" y="413640"/>
            <a:ext cx="11392920" cy="623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2"/>
          <p:cNvSpPr/>
          <p:nvPr/>
        </p:nvSpPr>
        <p:spPr>
          <a:xfrm>
            <a:off x="3413880" y="2971800"/>
            <a:ext cx="5917680" cy="649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defTabSz="825480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AI </a:t>
            </a:r>
            <a:r>
              <a:rPr b="0" lang="zh-CN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时代与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Kong AI Gateway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649800" y="1828800"/>
            <a:ext cx="11152080" cy="342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747000" y="914040"/>
            <a:ext cx="10828080" cy="595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554400" y="880200"/>
            <a:ext cx="11302560" cy="594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本框 6"/>
          <p:cNvSpPr/>
          <p:nvPr/>
        </p:nvSpPr>
        <p:spPr>
          <a:xfrm>
            <a:off x="4478400" y="2971800"/>
            <a:ext cx="3790800" cy="649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defTabSz="825480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I 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+ 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l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d 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ti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v</a:t>
            </a:r>
            <a:r>
              <a:rPr b="0" lang="en-US" sz="3600" spc="-1" strike="noStrike">
                <a:solidFill>
                  <a:srgbClr val="000000"/>
                </a:solidFill>
                <a:latin typeface="Alibaba PuHuiTi 3.0 55 Regular"/>
                <a:ea typeface="Alibaba PuHuiTi 3.0 55 Regular"/>
              </a:rPr>
              <a:t>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2277720" y="1397160"/>
            <a:ext cx="7686360" cy="422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 rot="2400">
            <a:off x="33480" y="-16560"/>
            <a:ext cx="12115080" cy="689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4073400" y="1464120"/>
            <a:ext cx="4095360" cy="409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4677</TotalTime>
  <Application>LibreOffice/24.2.7.2$Linux_X86_64 LibreOffice_project/420$Build-2</Application>
  <AppVersion>15.0000</AppVersion>
  <Words>148</Words>
  <Paragraphs>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2025-04-11T03:25:33Z</dcterms:created>
  <dc:creator>刘炳宏</dc:creator>
  <dc:description/>
  <dc:language>en-US</dc:language>
  <cp:lastModifiedBy/>
  <dcterms:modified xsi:type="dcterms:W3CDTF">2025-11-14T19:59:45Z</dcterms:modified>
  <cp:revision>34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宽屏</vt:lpwstr>
  </property>
  <property fmtid="{D5CDD505-2E9C-101B-9397-08002B2CF9AE}" pid="4" name="Slides">
    <vt:i4>5</vt:i4>
  </property>
</Properties>
</file>